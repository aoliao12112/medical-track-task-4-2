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30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2311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大家好，我们的项目叫“医护洞察”。我们希望解决一个问题：医疗理赔完成之后，赔付结束了，但患者真正关心的问题其实还没有结束。所以我们希望把传统的“赔完即结束”，变成“理赔即关怀”。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总结下来主要有四个问题。第一，医疗材料本身复杂，患者很难看懂。第二，保险侧人工阅读和摘录成本高，而且很难还原完整诊疗过程。第三，传统理赔结束以后服务就结束了，但患者仍然不知道怎么康复、何时复诊。第四，下一次去哪家医院、找哪位医生，也没有可靠依据。所以问题不是缺少医疗数据，而是这些数据没有真正转化成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我们的方案不是只做 OCR，也不是单独做一个医疗问答机器人。我们从理赔材料开始，把材料重建成可追溯的结构化病例，在此基础上识别临床、费用和体验痛点，再生成个性化温度指引、品质评价和就医推荐。最终经过医疗审核以后正式发布，并通过客户反馈进入客服和医疗跟进，形成完整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医疗场景里，我们认为最大问题不是模型会不会生成，而是生成以后能不能相信。所以每个关键结论必须能回到原始证据；低置信度或者冲突字段进入人工复核；温度指引还会经过医学安全门禁。最终客户看到的不是模型中间结果，而是经过审核冻结后的正式版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温度指引是我们最希望解决用户体验问题的一部分。它不是生成一篇“肺部手术康复指南”，而是结合这个用户自己的诊断、治疗、费用和复诊安排。比如材料里出现诊断前后不一致时，系统不会替医生强行下结论，而是告诉用户这个差异在哪里、下一次应该问医生什么。我们希望用户看完以后，不只是“看懂”，而是知道“下一步能做什么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品质评价也不是简单让模型说“这家医院好不好”。我们先从六个维度观察当前案件的诊疗过程，并且明确区分有证据可以评分、需要人工复核以及证据不足无法评分。总分由后端固定权重计算。推荐同样要求可解释理由和来源。证据不足时系统可以不推荐，而不是为了展示效果让模型自由发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最后看一下我们和命题 KR 的对应。当前完整业务链路已经跑通，结构化、痛点、温度指引和六维品质评价都已经实现。现在我们正在用官方 Gold 和真实 Prediction 跑结构化 F1，并同步进行痛点一致率和三病种温度盲评。所有结果只填真实实测数字，不使用内部测试代替比赛指标。接下来我们直接进入 Demo。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RapidOCR 负责本地原始图片识别，DeepSeek 只接收授权、脱敏后的必要文本或结构化上下文；FastAPI 负责工作流和安全门禁，SQLite 作为比赛原型持久化底座。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把合规和审核设计成系统流程的一部分，而不是项目最后补的一段免责声明。对于用户，它把一次性赔付结果变成看得懂、用得上的就医指南；对于保险公司，它把理赔环节从成本中心转成服务触点；对于医疗 AI，它提供了一套可解释、可审核、可追溯的落地范式。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AA39B"/>
          </a:solidFill>
          <a:ln w="12700">
            <a:solidFill>
              <a:srgbClr val="5AA3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7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医护洞察 · 赛道四 / 课题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92640" y="65196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7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1024 AI Coding 大赛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6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6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3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24A"/>
          </a:solidFill>
          <a:ln w="12700">
            <a:solidFill>
              <a:srgbClr val="1932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AA39B"/>
          </a:solidFill>
          <a:ln w="12700">
            <a:solidFill>
              <a:srgbClr val="5AA39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0515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医护洞察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84708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CE6EE"/>
                </a:solidFill>
              </a:rPr>
              <a:t>基于理赔医护记录的「医护洞察与温度指引」引擎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2697480"/>
            <a:ext cx="1828800" cy="0"/>
          </a:xfrm>
          <a:prstGeom prst="line">
            <a:avLst/>
          </a:prstGeom>
          <a:noFill/>
          <a:ln w="38100">
            <a:solidFill>
              <a:srgbClr val="5AA3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85292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FE0D9"/>
                </a:solidFill>
              </a:rPr>
              <a:t>让一次理赔，成为下一次就医的起点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85800" y="5454810"/>
            <a:ext cx="1508760" cy="301752"/>
          </a:xfrm>
          <a:prstGeom prst="roundRect">
            <a:avLst>
              <a:gd name="adj" fmla="val 45455"/>
            </a:avLst>
          </a:prstGeom>
          <a:solidFill>
            <a:srgbClr val="284B64"/>
          </a:solidFill>
          <a:ln w="12700">
            <a:solidFill>
              <a:srgbClr val="284B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" y="5518818"/>
            <a:ext cx="1399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F0EB"/>
                </a:solidFill>
              </a:rPr>
              <a:t>赛道四 · 课题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31720" y="5454810"/>
            <a:ext cx="1691640" cy="301752"/>
          </a:xfrm>
          <a:prstGeom prst="roundRect">
            <a:avLst>
              <a:gd name="adj" fmla="val 45455"/>
            </a:avLst>
          </a:prstGeom>
          <a:solidFill>
            <a:srgbClr val="284B64"/>
          </a:solidFill>
          <a:ln w="12700">
            <a:solidFill>
              <a:srgbClr val="284B64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Text 9"/>
          <p:cNvSpPr/>
          <p:nvPr/>
        </p:nvSpPr>
        <p:spPr>
          <a:xfrm>
            <a:off x="2375500" y="5518818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900" b="1" dirty="0">
                <a:solidFill>
                  <a:srgbClr val="D9F0EB"/>
                </a:solidFill>
              </a:rPr>
              <a:t>组员：郑文希 俞筱雨 董晨熙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59140" y="777240"/>
            <a:ext cx="4617720" cy="5212080"/>
          </a:xfrm>
          <a:prstGeom prst="roundRect">
            <a:avLst>
              <a:gd name="adj" fmla="val 3168"/>
            </a:avLst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11430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324A"/>
                </a:solidFill>
              </a:rPr>
              <a:t>理赔材料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39912" y="1115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A39B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851392" y="11430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324A"/>
                </a:solidFill>
              </a:rPr>
              <a:t>医疗洞察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104120" y="1115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AA39B"/>
                </a:solidFill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515600" y="11430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324A"/>
                </a:solidFill>
              </a:rPr>
              <a:t>持续关怀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24928" y="1783080"/>
            <a:ext cx="3584448" cy="749808"/>
          </a:xfrm>
          <a:prstGeom prst="roundRect">
            <a:avLst>
              <a:gd name="adj" fmla="val 19512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19293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A78"/>
                </a:solidFill>
              </a:rPr>
              <a:t>本地 OCR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97112" y="19293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E7B88"/>
                </a:solidFill>
              </a:rPr>
              <a:t>原始图片不外发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9217152" y="2551176"/>
            <a:ext cx="0" cy="164592"/>
          </a:xfrm>
          <a:prstGeom prst="line">
            <a:avLst/>
          </a:prstGeom>
          <a:noFill/>
          <a:ln w="25400">
            <a:solidFill>
              <a:srgbClr val="9CB6C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24928" y="2743200"/>
            <a:ext cx="3584448" cy="749808"/>
          </a:xfrm>
          <a:prstGeom prst="roundRect">
            <a:avLst>
              <a:gd name="adj" fmla="val 19512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35240" y="28895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DEF"/>
                </a:solidFill>
              </a:rPr>
              <a:t>结构化病例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97112" y="28895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E7B88"/>
                </a:solidFill>
              </a:rPr>
              <a:t>字段 + 置信度 + Evidence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9217152" y="3511296"/>
            <a:ext cx="0" cy="164592"/>
          </a:xfrm>
          <a:prstGeom prst="line">
            <a:avLst/>
          </a:prstGeom>
          <a:noFill/>
          <a:ln w="25400">
            <a:solidFill>
              <a:srgbClr val="9CB6C0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424928" y="3703320"/>
            <a:ext cx="3584448" cy="749808"/>
          </a:xfrm>
          <a:prstGeom prst="roundRect">
            <a:avLst>
              <a:gd name="adj" fmla="val 19512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38496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A44A"/>
                </a:solidFill>
              </a:rPr>
              <a:t>温度指引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897112" y="38496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E7B88"/>
                </a:solidFill>
              </a:rPr>
              <a:t>理解 · 康复 · 下一步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9217152" y="4471416"/>
            <a:ext cx="0" cy="164592"/>
          </a:xfrm>
          <a:prstGeom prst="line">
            <a:avLst/>
          </a:prstGeom>
          <a:noFill/>
          <a:ln w="25400">
            <a:solidFill>
              <a:srgbClr val="9CB6C0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424928" y="4663440"/>
            <a:ext cx="3584448" cy="749808"/>
          </a:xfrm>
          <a:prstGeom prst="roundRect">
            <a:avLst>
              <a:gd name="adj" fmla="val 19512"/>
            </a:avLst>
          </a:prstGeom>
          <a:solidFill>
            <a:srgbClr val="FBE9E8"/>
          </a:solidFill>
          <a:ln w="12700">
            <a:solidFill>
              <a:srgbClr val="FBE9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5240" y="48097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85C5C"/>
                </a:solidFill>
              </a:rPr>
              <a:t>医疗复核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897112" y="48097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E7B88"/>
                </a:solidFill>
              </a:rPr>
              <a:t>审核通过后才可发布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685800" y="6080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6D1"/>
                </a:solidFill>
              </a:rPr>
              <a:t>2026 1024 AI Coding 大赛</a:t>
            </a:r>
            <a:endParaRPr lang="en-US" sz="10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6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5AA39B"/>
                </a:solidFill>
              </a:rPr>
              <a:t>01  项目痛点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82433"/>
                </a:solidFill>
              </a:rPr>
              <a:t>理赔结束了，但患者的问题没有结束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09728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7B88"/>
                </a:solidFill>
              </a:rPr>
              <a:t>不是缺少医疗数据，而是这些数据没有被转化成持续服务能力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783080"/>
            <a:ext cx="2423160" cy="338328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965960"/>
            <a:ext cx="731520" cy="301752"/>
          </a:xfrm>
          <a:prstGeom prst="roundRect">
            <a:avLst>
              <a:gd name="adj" fmla="val 45455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202996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8DEF"/>
                </a:solidFill>
              </a:rPr>
              <a:t>患者侧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58952" y="23774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433"/>
                </a:solidFill>
              </a:rPr>
              <a:t>材料看不懂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952" y="299923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A39B"/>
                </a:solidFill>
              </a:rPr>
              <a:t>•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29992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82433"/>
                </a:solidFill>
              </a:rPr>
              <a:t>病历 / 病理 / 费用清单格式复杂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58952" y="374904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A39B"/>
                </a:solidFill>
              </a:rPr>
              <a:t>•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60120" y="374904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82433"/>
                </a:solidFill>
              </a:rPr>
              <a:t>医学术语密集，诊断与治疗过程难理解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56432" y="1783080"/>
            <a:ext cx="2423160" cy="338328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21024" y="1965960"/>
            <a:ext cx="731520" cy="301752"/>
          </a:xfrm>
          <a:prstGeom prst="roundRect">
            <a:avLst>
              <a:gd name="adj" fmla="val 45455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5888" y="202996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A78"/>
                </a:solidFill>
              </a:rPr>
              <a:t>保险侧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21024" y="23774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433"/>
                </a:solidFill>
              </a:rPr>
              <a:t>人工处理成本高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21024" y="299923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A39B"/>
                </a:solidFill>
              </a:rPr>
              <a:t>•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22192" y="29992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82433"/>
                </a:solidFill>
              </a:rPr>
              <a:t>逐份阅读与摘录，周期长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21024" y="374904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A39B"/>
                </a:solidFill>
              </a:rPr>
              <a:t>•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822192" y="374904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82433"/>
                </a:solidFill>
              </a:rPr>
              <a:t>跨页、跨文档，难还原完整诊疗时间线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18504" y="1783080"/>
            <a:ext cx="2423160" cy="338328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83096" y="1965960"/>
            <a:ext cx="731520" cy="301752"/>
          </a:xfrm>
          <a:prstGeom prst="roundRect">
            <a:avLst>
              <a:gd name="adj" fmla="val 45455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202996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44A"/>
                </a:solidFill>
              </a:rPr>
              <a:t>服务侧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83096" y="23774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433"/>
                </a:solidFill>
              </a:rPr>
              <a:t>理赔后缺乏关怀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83096" y="299923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A39B"/>
                </a:solidFill>
              </a:rPr>
              <a:t>•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84264" y="29992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82433"/>
                </a:solidFill>
              </a:rPr>
              <a:t>不知道如何康复、何时复诊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83096" y="374904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A39B"/>
                </a:solidFill>
              </a:rPr>
              <a:t>•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84264" y="374904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82433"/>
                </a:solidFill>
              </a:rPr>
              <a:t>医疗过程中的焦虑没有被继续回应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180576" y="1783080"/>
            <a:ext cx="2423160" cy="3383280"/>
          </a:xfrm>
          <a:prstGeom prst="roundRect">
            <a:avLst>
              <a:gd name="adj" fmla="val 603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45168" y="1965960"/>
            <a:ext cx="731520" cy="301752"/>
          </a:xfrm>
          <a:prstGeom prst="roundRect">
            <a:avLst>
              <a:gd name="adj" fmla="val 45455"/>
            </a:avLst>
          </a:prstGeom>
          <a:solidFill>
            <a:srgbClr val="FBE9E8"/>
          </a:solidFill>
          <a:ln w="12700">
            <a:solidFill>
              <a:srgbClr val="FBE9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00032" y="2029968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85C5C"/>
                </a:solidFill>
              </a:rPr>
              <a:t>决策侧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345168" y="23774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82433"/>
                </a:solidFill>
              </a:rPr>
              <a:t>下一次就医没依据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9345168" y="2999232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A39B"/>
                </a:solidFill>
              </a:rPr>
              <a:t>•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546336" y="29992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82433"/>
                </a:solidFill>
              </a:rPr>
              <a:t>去哪家医院 / 找哪位医生？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345168" y="374904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AA39B"/>
                </a:solidFill>
              </a:rPr>
              <a:t>•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546336" y="374904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82433"/>
                </a:solidFill>
              </a:rPr>
              <a:t>费用是否合理 / 后续治疗怎么选？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1051560" y="5504688"/>
            <a:ext cx="10058400" cy="576072"/>
          </a:xfrm>
          <a:prstGeom prst="roundRect">
            <a:avLst>
              <a:gd name="adj" fmla="val 25397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25880" y="5660136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324A"/>
                </a:solidFill>
              </a:rPr>
              <a:t>大量有价值的医疗信息沉睡在理赔材料里，没有转化成持续服务能力。</a:t>
            </a:r>
            <a:endParaRPr lang="en-US" sz="16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6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5AA39B"/>
                </a:solidFill>
              </a:rPr>
              <a:t>02  解决方案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82433"/>
                </a:solidFill>
              </a:rPr>
              <a:t>从「理赔材料」到「医护关怀闭环」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09728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7B88"/>
                </a:solidFill>
              </a:rPr>
              <a:t>结构化、洞察、关怀、推荐与服务反馈贯通为一条可追溯链路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960120" cy="914400"/>
          </a:xfrm>
          <a:prstGeom prst="roundRect">
            <a:avLst>
              <a:gd name="adj" fmla="val 16000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066544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8DEF"/>
                </a:solidFill>
              </a:rPr>
              <a:t>理赔材料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4140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6E7B88"/>
                </a:solidFill>
              </a:rPr>
              <a:t>CLAIM</a:t>
            </a:r>
            <a:endParaRPr lang="en-US" sz="770" dirty="0"/>
          </a:p>
        </p:txBody>
      </p:sp>
      <p:sp>
        <p:nvSpPr>
          <p:cNvPr id="8" name="Shape 6"/>
          <p:cNvSpPr/>
          <p:nvPr/>
        </p:nvSpPr>
        <p:spPr>
          <a:xfrm>
            <a:off x="1481328" y="2377440"/>
            <a:ext cx="173736" cy="0"/>
          </a:xfrm>
          <a:prstGeom prst="line">
            <a:avLst/>
          </a:prstGeom>
          <a:noFill/>
          <a:ln w="25400">
            <a:solidFill>
              <a:srgbClr val="9CB6C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673352" y="1920240"/>
            <a:ext cx="960120" cy="914400"/>
          </a:xfrm>
          <a:prstGeom prst="roundRect">
            <a:avLst>
              <a:gd name="adj" fmla="val 16000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2066544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A78"/>
                </a:solidFill>
              </a:rPr>
              <a:t>本地 OCR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19072" y="24140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6E7B88"/>
                </a:solidFill>
              </a:rPr>
              <a:t>RapidOCR</a:t>
            </a:r>
            <a:endParaRPr lang="en-US" sz="770" dirty="0"/>
          </a:p>
        </p:txBody>
      </p:sp>
      <p:sp>
        <p:nvSpPr>
          <p:cNvPr id="12" name="Shape 10"/>
          <p:cNvSpPr/>
          <p:nvPr/>
        </p:nvSpPr>
        <p:spPr>
          <a:xfrm>
            <a:off x="2651760" y="2377440"/>
            <a:ext cx="173736" cy="0"/>
          </a:xfrm>
          <a:prstGeom prst="line">
            <a:avLst/>
          </a:prstGeom>
          <a:noFill/>
          <a:ln w="25400">
            <a:solidFill>
              <a:srgbClr val="9CB6C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43784" y="1920240"/>
            <a:ext cx="960120" cy="914400"/>
          </a:xfrm>
          <a:prstGeom prst="roundRect">
            <a:avLst>
              <a:gd name="adj" fmla="val 16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07792" y="2066544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324A"/>
                </a:solidFill>
              </a:rPr>
              <a:t>结构化病例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89504" y="24140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6E7B88"/>
                </a:solidFill>
              </a:rPr>
              <a:t>ClaimCase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3822192" y="2377440"/>
            <a:ext cx="173736" cy="0"/>
          </a:xfrm>
          <a:prstGeom prst="line">
            <a:avLst/>
          </a:prstGeom>
          <a:noFill/>
          <a:ln w="25400">
            <a:solidFill>
              <a:srgbClr val="9CB6C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014216" y="1920240"/>
            <a:ext cx="960120" cy="914400"/>
          </a:xfrm>
          <a:prstGeom prst="roundRect">
            <a:avLst>
              <a:gd name="adj" fmla="val 16000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78224" y="2066544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44A"/>
                </a:solidFill>
              </a:rPr>
              <a:t>痛点洞察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59936" y="24140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6E7B88"/>
                </a:solidFill>
              </a:rPr>
              <a:t>Clinical / Cost / Experience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4992624" y="2377440"/>
            <a:ext cx="173736" cy="0"/>
          </a:xfrm>
          <a:prstGeom prst="line">
            <a:avLst/>
          </a:prstGeom>
          <a:noFill/>
          <a:ln w="25400">
            <a:solidFill>
              <a:srgbClr val="9CB6C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84648" y="1920240"/>
            <a:ext cx="960120" cy="914400"/>
          </a:xfrm>
          <a:prstGeom prst="roundRect">
            <a:avLst>
              <a:gd name="adj" fmla="val 16000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48656" y="2066544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44A"/>
                </a:solidFill>
              </a:rPr>
              <a:t>温度指引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30368" y="24140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6E7B88"/>
                </a:solidFill>
              </a:rPr>
              <a:t>Care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6163056" y="2377440"/>
            <a:ext cx="173736" cy="0"/>
          </a:xfrm>
          <a:prstGeom prst="line">
            <a:avLst/>
          </a:prstGeom>
          <a:noFill/>
          <a:ln w="25400">
            <a:solidFill>
              <a:srgbClr val="9CB6C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355080" y="1920240"/>
            <a:ext cx="960120" cy="914400"/>
          </a:xfrm>
          <a:prstGeom prst="roundRect">
            <a:avLst>
              <a:gd name="adj" fmla="val 16000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2066544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A78"/>
                </a:solidFill>
              </a:rPr>
              <a:t>品质评价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24140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6E7B88"/>
                </a:solidFill>
              </a:rPr>
              <a:t>6 Dimensions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7333488" y="2377440"/>
            <a:ext cx="173736" cy="0"/>
          </a:xfrm>
          <a:prstGeom prst="line">
            <a:avLst/>
          </a:prstGeom>
          <a:noFill/>
          <a:ln w="25400">
            <a:solidFill>
              <a:srgbClr val="9CB6C0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525512" y="1920240"/>
            <a:ext cx="960120" cy="914400"/>
          </a:xfrm>
          <a:prstGeom prst="roundRect">
            <a:avLst>
              <a:gd name="adj" fmla="val 16000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2066544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8DEF"/>
                </a:solidFill>
              </a:rPr>
              <a:t>就医推荐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71232" y="24140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6E7B88"/>
                </a:solidFill>
              </a:rPr>
              <a:t>Hospital / Doctor / Direction</a:t>
            </a:r>
            <a:endParaRPr lang="en-US" sz="770" dirty="0"/>
          </a:p>
        </p:txBody>
      </p:sp>
      <p:sp>
        <p:nvSpPr>
          <p:cNvPr id="32" name="Shape 30"/>
          <p:cNvSpPr/>
          <p:nvPr/>
        </p:nvSpPr>
        <p:spPr>
          <a:xfrm>
            <a:off x="8503920" y="2377440"/>
            <a:ext cx="173736" cy="0"/>
          </a:xfrm>
          <a:prstGeom prst="line">
            <a:avLst/>
          </a:prstGeom>
          <a:noFill/>
          <a:ln w="25400">
            <a:solidFill>
              <a:srgbClr val="9CB6C0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695944" y="1920240"/>
            <a:ext cx="960120" cy="914400"/>
          </a:xfrm>
          <a:prstGeom prst="roundRect">
            <a:avLst>
              <a:gd name="adj" fmla="val 16000"/>
            </a:avLst>
          </a:prstGeom>
          <a:solidFill>
            <a:srgbClr val="FBE9E8"/>
          </a:solidFill>
          <a:ln w="12700">
            <a:solidFill>
              <a:srgbClr val="FBE9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59952" y="2066544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85C5C"/>
                </a:solidFill>
              </a:rPr>
              <a:t>医疗复核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741664" y="24140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6E7B88"/>
                </a:solidFill>
              </a:rPr>
              <a:t>MEDICAL</a:t>
            </a:r>
            <a:endParaRPr lang="en-US" sz="770" dirty="0"/>
          </a:p>
        </p:txBody>
      </p:sp>
      <p:sp>
        <p:nvSpPr>
          <p:cNvPr id="36" name="Shape 34"/>
          <p:cNvSpPr/>
          <p:nvPr/>
        </p:nvSpPr>
        <p:spPr>
          <a:xfrm>
            <a:off x="9674352" y="2377440"/>
            <a:ext cx="173736" cy="0"/>
          </a:xfrm>
          <a:prstGeom prst="line">
            <a:avLst/>
          </a:prstGeom>
          <a:noFill/>
          <a:ln w="25400">
            <a:solidFill>
              <a:srgbClr val="9CB6C0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866376" y="1920240"/>
            <a:ext cx="960120" cy="914400"/>
          </a:xfrm>
          <a:prstGeom prst="roundRect">
            <a:avLst>
              <a:gd name="adj" fmla="val 16000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30384" y="2066544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324A"/>
                </a:solidFill>
              </a:rPr>
              <a:t>正式发布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912096" y="24140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6E7B88"/>
                </a:solidFill>
              </a:rPr>
              <a:t>Snapshot</a:t>
            </a:r>
            <a:endParaRPr lang="en-US" sz="770" dirty="0"/>
          </a:p>
        </p:txBody>
      </p:sp>
      <p:sp>
        <p:nvSpPr>
          <p:cNvPr id="40" name="Shape 38"/>
          <p:cNvSpPr/>
          <p:nvPr/>
        </p:nvSpPr>
        <p:spPr>
          <a:xfrm>
            <a:off x="10844784" y="2377440"/>
            <a:ext cx="173736" cy="0"/>
          </a:xfrm>
          <a:prstGeom prst="line">
            <a:avLst/>
          </a:prstGeom>
          <a:noFill/>
          <a:ln w="25400">
            <a:solidFill>
              <a:srgbClr val="9CB6C0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1036808" y="1920240"/>
            <a:ext cx="960120" cy="914400"/>
          </a:xfrm>
          <a:prstGeom prst="roundRect">
            <a:avLst>
              <a:gd name="adj" fmla="val 16000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100816" y="2066544"/>
            <a:ext cx="832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A78"/>
                </a:solidFill>
              </a:rPr>
              <a:t>客户反馈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1082528" y="2414016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dirty="0">
                <a:solidFill>
                  <a:srgbClr val="6E7B88"/>
                </a:solidFill>
              </a:rPr>
              <a:t>SERVICE</a:t>
            </a:r>
            <a:endParaRPr lang="en-US" sz="770" dirty="0"/>
          </a:p>
        </p:txBody>
      </p:sp>
      <p:sp>
        <p:nvSpPr>
          <p:cNvPr id="44" name="Shape 42"/>
          <p:cNvSpPr/>
          <p:nvPr/>
        </p:nvSpPr>
        <p:spPr>
          <a:xfrm>
            <a:off x="1051560" y="3794760"/>
            <a:ext cx="278892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234440" y="3977640"/>
            <a:ext cx="1078992" cy="301752"/>
          </a:xfrm>
          <a:prstGeom prst="roundRect">
            <a:avLst>
              <a:gd name="adj" fmla="val 45455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89304" y="404164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8DEF"/>
                </a:solidFill>
              </a:rPr>
              <a:t>看得懂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234440" y="44256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82433"/>
                </a:solidFill>
              </a:rPr>
              <a:t>诊断解释 · 治疗回顾 · 费用解读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251960" y="3794760"/>
            <a:ext cx="278892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34840" y="3977640"/>
            <a:ext cx="1078992" cy="301752"/>
          </a:xfrm>
          <a:prstGeom prst="roundRect">
            <a:avLst>
              <a:gd name="adj" fmla="val 45455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9704" y="404164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A78"/>
                </a:solidFill>
              </a:rPr>
              <a:t>知道怎么办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434840" y="44256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82433"/>
                </a:solidFill>
              </a:rPr>
              <a:t>康复 · 复诊 · 风险提醒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7452360" y="3794760"/>
            <a:ext cx="2788920" cy="1234440"/>
          </a:xfrm>
          <a:prstGeom prst="roundRect">
            <a:avLst>
              <a:gd name="adj" fmla="val 11852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35240" y="3977640"/>
            <a:ext cx="1078992" cy="301752"/>
          </a:xfrm>
          <a:prstGeom prst="roundRect">
            <a:avLst>
              <a:gd name="adj" fmla="val 45455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90104" y="404164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44A"/>
                </a:solidFill>
              </a:rPr>
              <a:t>知道下一步去哪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635240" y="442569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182433"/>
                </a:solidFill>
              </a:rPr>
              <a:t>品质观察 · 医院 / 医生推荐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1874520" y="5394960"/>
            <a:ext cx="8458200" cy="603504"/>
          </a:xfrm>
          <a:prstGeom prst="roundRect">
            <a:avLst>
              <a:gd name="adj" fmla="val 24242"/>
            </a:avLst>
          </a:prstGeom>
          <a:solidFill>
            <a:srgbClr val="19324A"/>
          </a:solidFill>
          <a:ln w="12700">
            <a:solidFill>
              <a:srgbClr val="19324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03120" y="5568696"/>
            <a:ext cx="8001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不是让 LLM 直接回答，而是让 AI 结果经过 Evidence、人工审核和发布门禁。</a:t>
            </a:r>
            <a:endParaRPr lang="en-US" sz="1500" dirty="0"/>
          </a:p>
        </p:txBody>
      </p:sp>
      <p:sp>
        <p:nvSpPr>
          <p:cNvPr id="5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6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5AA39B"/>
                </a:solidFill>
              </a:rPr>
              <a:t>03  核心创新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82433"/>
                </a:solidFill>
              </a:rPr>
              <a:t>医疗 AI 不只是「能生成」，还必须可信、可审、可追溯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09728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7B88"/>
                </a:solidFill>
              </a:rPr>
              <a:t>把可信机制做进主链路，而不是最后补一段免责声明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19072"/>
            <a:ext cx="470916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883664"/>
            <a:ext cx="1325880" cy="301752"/>
          </a:xfrm>
          <a:prstGeom prst="roundRect">
            <a:avLst>
              <a:gd name="adj" fmla="val 45455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47672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8DEF"/>
                </a:solidFill>
              </a:rPr>
              <a:t>Evidence-grounded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67712" y="1847088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82433"/>
                </a:solidFill>
              </a:rPr>
              <a:t>每个关键结论都能回到原始材料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267712" y="21945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E7B88"/>
                </a:solidFill>
              </a:rPr>
              <a:t>查看 OCR 文本、页面与 bbox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566928" y="2798064"/>
            <a:ext cx="470916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962656"/>
            <a:ext cx="1325880" cy="301752"/>
          </a:xfrm>
          <a:prstGeom prst="roundRect">
            <a:avLst>
              <a:gd name="adj" fmla="val 45455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026664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A78"/>
                </a:solidFill>
              </a:rPr>
              <a:t>Human-in-the-loop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67712" y="292608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82433"/>
                </a:solidFill>
              </a:rPr>
              <a:t>模型结果由医疗人员确认、修订或隐藏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267712" y="32735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E7B88"/>
                </a:solidFill>
              </a:rPr>
              <a:t>原始结果保留，人工以 overlay 生效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566928" y="3877056"/>
            <a:ext cx="470916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4041648"/>
            <a:ext cx="1325880" cy="301752"/>
          </a:xfrm>
          <a:prstGeom prst="roundRect">
            <a:avLst>
              <a:gd name="adj" fmla="val 45455"/>
            </a:avLst>
          </a:prstGeom>
          <a:solidFill>
            <a:srgbClr val="FBE9E8"/>
          </a:solidFill>
          <a:ln w="12700">
            <a:solidFill>
              <a:srgbClr val="FBE9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105656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85C5C"/>
                </a:solidFill>
              </a:rPr>
              <a:t>Safety Gate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67712" y="400507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82433"/>
                </a:solidFill>
              </a:rPr>
              <a:t>无证据 / 越界诊断 / 自行改药直接阻断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267712" y="43525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E7B88"/>
                </a:solidFill>
              </a:rPr>
              <a:t>前端不能绕过后端门禁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566928" y="4956048"/>
            <a:ext cx="4709160" cy="960120"/>
          </a:xfrm>
          <a:prstGeom prst="roundRect">
            <a:avLst>
              <a:gd name="adj" fmla="val 1523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5120640"/>
            <a:ext cx="1325880" cy="301752"/>
          </a:xfrm>
          <a:prstGeom prst="roundRect">
            <a:avLst>
              <a:gd name="adj" fmla="val 45455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5184648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44A"/>
                </a:solidFill>
              </a:rPr>
              <a:t>Versioned Publishing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67712" y="5084064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82433"/>
                </a:solidFill>
              </a:rPr>
              <a:t>病例变化后旧审核失效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267712" y="54315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6E7B88"/>
                </a:solidFill>
              </a:rPr>
              <a:t>客户只读取正式 Published Snapshot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5559552" y="1719072"/>
            <a:ext cx="6016752" cy="4361688"/>
          </a:xfrm>
          <a:prstGeom prst="roundRect">
            <a:avLst>
              <a:gd name="adj" fmla="val 3354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pic>
        <p:nvPicPr>
          <p:cNvPr id="26" name="Image 0" descr="/mnt/data/image(20261014-06311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1847088"/>
            <a:ext cx="5760720" cy="4096512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5687568" y="5376672"/>
            <a:ext cx="5760720" cy="566928"/>
          </a:xfrm>
          <a:prstGeom prst="rect">
            <a:avLst/>
          </a:prstGeom>
          <a:solidFill>
            <a:srgbClr val="FFFFFF">
              <a:alpha val="8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52160" y="5550408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324A"/>
                </a:solidFill>
              </a:rPr>
              <a:t>示例：结构化字段可直接回到病理报告原始证据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6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5AA39B"/>
                </a:solidFill>
              </a:rPr>
              <a:t>04  核心价值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82433"/>
                </a:solidFill>
              </a:rPr>
              <a:t>不是一篇医学科普，而是「这个人的下一步」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09728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7B88"/>
                </a:solidFill>
              </a:rPr>
              <a:t>温度指引必须锚定本人病情、治疗、费用和随访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4828032" cy="4480560"/>
          </a:xfrm>
          <a:prstGeom prst="roundRect">
            <a:avLst>
              <a:gd name="adj" fmla="val 3265"/>
            </a:avLst>
          </a:prstGeom>
          <a:solidFill>
            <a:srgbClr val="19324A"/>
          </a:solidFill>
          <a:ln w="12700">
            <a:solidFill>
              <a:srgbClr val="19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029968"/>
            <a:ext cx="4206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患者真正需要的不是“更多医学知识”，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而是知道：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96112" y="306324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CFC2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61872" y="30540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</a:rPr>
              <a:t>我到底得了什么？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96112" y="352044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CFC2"/>
                </a:solidFill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61872" y="35112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</a:rPr>
              <a:t>这次治疗发生了什么？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96112" y="397764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CFC2"/>
                </a:solidFill>
              </a:rPr>
              <a:t>03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61872" y="39684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</a:rPr>
              <a:t>钱花在哪里？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896112" y="443484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CFC2"/>
                </a:solidFill>
              </a:rPr>
              <a:t>04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61872" y="44256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</a:rPr>
              <a:t>回家后该做什么？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96112" y="489204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CFC2"/>
                </a:solidFill>
              </a:rPr>
              <a:t>05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61872" y="48828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</a:rPr>
              <a:t>什么时候复诊？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896112" y="534924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CFC2"/>
                </a:solidFill>
              </a:rPr>
              <a:t>06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61872" y="53400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</a:rPr>
              <a:t>哪些情况需要尽快就医？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5687568" y="1783080"/>
            <a:ext cx="2761488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0" y="1938528"/>
            <a:ext cx="1152144" cy="301752"/>
          </a:xfrm>
          <a:prstGeom prst="roundRect">
            <a:avLst>
              <a:gd name="adj" fmla="val 45455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07024" y="2002536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8DEF"/>
                </a:solidFill>
              </a:rPr>
              <a:t>诊断通俗解释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52160" y="235000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82433"/>
                </a:solidFill>
              </a:rPr>
              <a:t>把术语变成患者能理解的语言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5687568" y="3090672"/>
            <a:ext cx="2761488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0" y="3246120"/>
            <a:ext cx="1152144" cy="301752"/>
          </a:xfrm>
          <a:prstGeom prst="roundRect">
            <a:avLst>
              <a:gd name="adj" fmla="val 45455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07024" y="3310128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9324A"/>
                </a:solidFill>
              </a:rPr>
              <a:t>治疗过程回顾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52160" y="365760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82433"/>
                </a:solidFill>
              </a:rPr>
              <a:t>还原本次住院、手术与关键处置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5687568" y="4398264"/>
            <a:ext cx="2761488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52160" y="4553712"/>
            <a:ext cx="1152144" cy="301752"/>
          </a:xfrm>
          <a:prstGeom prst="roundRect">
            <a:avLst>
              <a:gd name="adj" fmla="val 45455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07024" y="4617720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44A"/>
                </a:solidFill>
              </a:rPr>
              <a:t>费用解读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52160" y="496519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82433"/>
                </a:solidFill>
              </a:rPr>
              <a:t>解释自付 / 自费 / 报销口径</a:t>
            </a:r>
            <a:endParaRPr lang="en-US" sz="1070" dirty="0"/>
          </a:p>
        </p:txBody>
      </p:sp>
      <p:sp>
        <p:nvSpPr>
          <p:cNvPr id="31" name="Shape 29"/>
          <p:cNvSpPr/>
          <p:nvPr/>
        </p:nvSpPr>
        <p:spPr>
          <a:xfrm>
            <a:off x="8732520" y="1783080"/>
            <a:ext cx="2761488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897112" y="1938528"/>
            <a:ext cx="1152144" cy="301752"/>
          </a:xfrm>
          <a:prstGeom prst="roundRect">
            <a:avLst>
              <a:gd name="adj" fmla="val 45455"/>
            </a:avLst>
          </a:prstGeom>
          <a:solidFill>
            <a:srgbClr val="FBE9E8"/>
          </a:solidFill>
          <a:ln w="12700">
            <a:solidFill>
              <a:srgbClr val="FBE9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51976" y="2002536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85C5C"/>
                </a:solidFill>
              </a:rPr>
              <a:t>心理支持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897112" y="235000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82433"/>
                </a:solidFill>
              </a:rPr>
              <a:t>回应真实治疗过程中的焦虑与不安</a:t>
            </a:r>
            <a:endParaRPr lang="en-US" sz="1070" dirty="0"/>
          </a:p>
        </p:txBody>
      </p:sp>
      <p:sp>
        <p:nvSpPr>
          <p:cNvPr id="35" name="Shape 33"/>
          <p:cNvSpPr/>
          <p:nvPr/>
        </p:nvSpPr>
        <p:spPr>
          <a:xfrm>
            <a:off x="8732520" y="3090672"/>
            <a:ext cx="2761488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97112" y="3246120"/>
            <a:ext cx="1152144" cy="301752"/>
          </a:xfrm>
          <a:prstGeom prst="roundRect">
            <a:avLst>
              <a:gd name="adj" fmla="val 45455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51976" y="3310128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A78"/>
                </a:solidFill>
              </a:rPr>
              <a:t>康复建议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897112" y="365760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82433"/>
                </a:solidFill>
              </a:rPr>
              <a:t>把出院要求变成可执行动作</a:t>
            </a:r>
            <a:endParaRPr lang="en-US" sz="1070" dirty="0"/>
          </a:p>
        </p:txBody>
      </p:sp>
      <p:sp>
        <p:nvSpPr>
          <p:cNvPr id="39" name="Shape 37"/>
          <p:cNvSpPr/>
          <p:nvPr/>
        </p:nvSpPr>
        <p:spPr>
          <a:xfrm>
            <a:off x="8732520" y="4398264"/>
            <a:ext cx="2761488" cy="1161288"/>
          </a:xfrm>
          <a:prstGeom prst="roundRect">
            <a:avLst>
              <a:gd name="adj" fmla="val 1259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97112" y="4553712"/>
            <a:ext cx="1152144" cy="301752"/>
          </a:xfrm>
          <a:prstGeom prst="roundRect">
            <a:avLst>
              <a:gd name="adj" fmla="val 45455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51976" y="4617720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8DEF"/>
                </a:solidFill>
              </a:rPr>
              <a:t>下一步就医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897112" y="496519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82433"/>
                </a:solidFill>
              </a:rPr>
              <a:t>明确复诊、材料与需向医生确认的问题</a:t>
            </a:r>
            <a:endParaRPr lang="en-US" sz="1070" dirty="0"/>
          </a:p>
        </p:txBody>
      </p:sp>
      <p:sp>
        <p:nvSpPr>
          <p:cNvPr id="43" name="Shape 41"/>
          <p:cNvSpPr/>
          <p:nvPr/>
        </p:nvSpPr>
        <p:spPr>
          <a:xfrm>
            <a:off x="5687568" y="5824728"/>
            <a:ext cx="5806440" cy="384048"/>
          </a:xfrm>
          <a:prstGeom prst="roundRect">
            <a:avLst>
              <a:gd name="adj" fmla="val 38095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89320" y="5934456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9324A"/>
                </a:solidFill>
              </a:rPr>
              <a:t>非模板化 · 可行动 · 有情绪回应</a:t>
            </a:r>
            <a:endParaRPr lang="en-US" sz="12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6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5AA39B"/>
                </a:solidFill>
              </a:rPr>
              <a:t>05  品质与推荐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82433"/>
                </a:solidFill>
              </a:rPr>
              <a:t>从「本次就医观察」到「下一次就医建议」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09728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7B88"/>
                </a:solidFill>
              </a:rPr>
              <a:t>六维案件级评价 + 可解释推荐，证据不足时可以不评分、不推荐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673352"/>
            <a:ext cx="5532120" cy="4498848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9019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433"/>
                </a:solidFill>
              </a:rPr>
              <a:t>六维案件级品质评价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41248" y="2395728"/>
            <a:ext cx="2212848" cy="786384"/>
          </a:xfrm>
          <a:prstGeom prst="roundRect">
            <a:avLst>
              <a:gd name="adj" fmla="val 18605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254203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5B8DEF"/>
                </a:solidFill>
              </a:rPr>
              <a:t>诊疗一致性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368296" y="25420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5B8DEF"/>
                </a:solidFill>
              </a:rPr>
              <a:t>25%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" y="3310128"/>
            <a:ext cx="2212848" cy="786384"/>
          </a:xfrm>
          <a:prstGeom prst="roundRect">
            <a:avLst>
              <a:gd name="adj" fmla="val 18605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345643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3B8A78"/>
                </a:solidFill>
              </a:rPr>
              <a:t>用药合理性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368296" y="34564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3B8A78"/>
                </a:solidFill>
              </a:rPr>
              <a:t>20%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1248" y="4224528"/>
            <a:ext cx="2212848" cy="786384"/>
          </a:xfrm>
          <a:prstGeom prst="roundRect">
            <a:avLst>
              <a:gd name="adj" fmla="val 18605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37083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9324A"/>
                </a:solidFill>
              </a:rPr>
              <a:t>手术/操作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368296" y="43708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9324A"/>
                </a:solidFill>
              </a:rPr>
              <a:t>15%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447288" y="2395728"/>
            <a:ext cx="2212848" cy="786384"/>
          </a:xfrm>
          <a:prstGeom prst="roundRect">
            <a:avLst>
              <a:gd name="adj" fmla="val 18605"/>
            </a:avLst>
          </a:prstGeom>
          <a:solidFill>
            <a:srgbClr val="FBE9E8"/>
          </a:solidFill>
          <a:ln w="12700">
            <a:solidFill>
              <a:srgbClr val="FBE9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75304" y="254203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D85C5C"/>
                </a:solidFill>
              </a:rPr>
              <a:t>风险管理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74336" y="25420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D85C5C"/>
                </a:solidFill>
              </a:rPr>
              <a:t>15%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47288" y="3310128"/>
            <a:ext cx="2212848" cy="786384"/>
          </a:xfrm>
          <a:prstGeom prst="roundRect">
            <a:avLst>
              <a:gd name="adj" fmla="val 18605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75304" y="345643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0A44A"/>
                </a:solidFill>
              </a:rPr>
              <a:t>出院与随访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74336" y="34564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0A44A"/>
                </a:solidFill>
              </a:rPr>
              <a:t>15%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47288" y="4224528"/>
            <a:ext cx="2212848" cy="786384"/>
          </a:xfrm>
          <a:prstGeom prst="roundRect">
            <a:avLst>
              <a:gd name="adj" fmla="val 18605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75304" y="437083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5B8DEF"/>
                </a:solidFill>
              </a:rPr>
              <a:t>病历完整性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74336" y="4370832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5B8DEF"/>
                </a:solidFill>
              </a:rPr>
              <a:t>10%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4400" y="543153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E7B88"/>
                </a:solidFill>
              </a:rPr>
              <a:t>SCORED   /   NEEDS_REVIEW   /   NOT_SCORED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5760720"/>
            <a:ext cx="4965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dirty="0">
                <a:solidFill>
                  <a:srgbClr val="6E7B88"/>
                </a:solidFill>
              </a:rPr>
              <a:t>总分由后端固定权重计算；证据不足不伪造默认分。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6355080" y="1673352"/>
            <a:ext cx="5257800" cy="4498848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19019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433"/>
                </a:solidFill>
              </a:rPr>
              <a:t>可解释就医推荐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601968" y="2487168"/>
            <a:ext cx="4480560" cy="822960"/>
          </a:xfrm>
          <a:prstGeom prst="roundRect">
            <a:avLst>
              <a:gd name="adj" fmla="val 17778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0" y="2642616"/>
            <a:ext cx="658368" cy="301752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21424" y="270662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8DEF"/>
                </a:solidFill>
              </a:rPr>
              <a:t>医院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43800" y="26700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82433"/>
                </a:solidFill>
              </a:rPr>
              <a:t>病种能力 / 服务范围 / 可达性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6601968" y="3474720"/>
            <a:ext cx="4480560" cy="822960"/>
          </a:xfrm>
          <a:prstGeom prst="roundRect">
            <a:avLst>
              <a:gd name="adj" fmla="val 17778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3630168"/>
            <a:ext cx="658368" cy="301752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21424" y="36941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A78"/>
                </a:solidFill>
              </a:rPr>
              <a:t>医生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543800" y="36576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82433"/>
                </a:solidFill>
              </a:rPr>
              <a:t>专业方向 / 病种匹配 / 资源可用性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6601968" y="4462272"/>
            <a:ext cx="4480560" cy="822960"/>
          </a:xfrm>
          <a:prstGeom prst="roundRect">
            <a:avLst>
              <a:gd name="adj" fmla="val 17778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66560" y="4617720"/>
            <a:ext cx="658368" cy="301752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21424" y="46817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44A"/>
                </a:solidFill>
              </a:rPr>
              <a:t>治疗方向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543800" y="46451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82433"/>
                </a:solidFill>
              </a:rPr>
              <a:t>后续评估 / 复诊 / 治疗路径</a:t>
            </a:r>
            <a:endParaRPr lang="en-US" sz="1120" dirty="0"/>
          </a:p>
        </p:txBody>
      </p:sp>
      <p:sp>
        <p:nvSpPr>
          <p:cNvPr id="41" name="Text 39"/>
          <p:cNvSpPr/>
          <p:nvPr/>
        </p:nvSpPr>
        <p:spPr>
          <a:xfrm>
            <a:off x="6693408" y="5440680"/>
            <a:ext cx="4434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6E7B88"/>
                </a:solidFill>
              </a:rPr>
              <a:t>✓ 至少 2 条推荐理由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6E7B88"/>
                </a:solidFill>
              </a:rPr>
              <a:t>✓ 保留来源与核验状态</a:t>
            </a:r>
            <a:endParaRPr lang="en-US" sz="1130" dirty="0"/>
          </a:p>
          <a:p>
            <a:pPr marL="0" indent="0">
              <a:buNone/>
            </a:pPr>
            <a:r>
              <a:rPr lang="en-US" sz="1130" dirty="0">
                <a:solidFill>
                  <a:srgbClr val="6E7B88"/>
                </a:solidFill>
              </a:rPr>
              <a:t>✓ 样本 / 证据不足 → 明确不推荐</a:t>
            </a:r>
            <a:endParaRPr lang="en-US" sz="1130" dirty="0"/>
          </a:p>
        </p:txBody>
      </p:sp>
      <p:sp>
        <p:nvSpPr>
          <p:cNvPr id="42" name="Shape 40"/>
          <p:cNvSpPr/>
          <p:nvPr/>
        </p:nvSpPr>
        <p:spPr>
          <a:xfrm>
            <a:off x="3182112" y="6272784"/>
            <a:ext cx="5833872" cy="338328"/>
          </a:xfrm>
          <a:prstGeom prst="roundRect">
            <a:avLst>
              <a:gd name="adj" fmla="val 43243"/>
            </a:avLst>
          </a:prstGeom>
          <a:solidFill>
            <a:srgbClr val="19324A"/>
          </a:solidFill>
          <a:ln w="12700">
            <a:solidFill>
              <a:srgbClr val="1932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01568" y="6355080"/>
            <a:ext cx="5394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宁可不给，不给错的。</a:t>
            </a:r>
            <a:endParaRPr lang="en-US" sz="122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6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5AA39B"/>
                </a:solidFill>
              </a:rPr>
              <a:t>06  命题对齐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82433"/>
                </a:solidFill>
              </a:rPr>
              <a:t>五项 KR：从功能完成走向真实验证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09728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7B88"/>
                </a:solidFill>
              </a:rPr>
              <a:t>只展示真实跑出的比赛指标，不用内部测试代替官方评测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2560320" cy="475488"/>
          </a:xfrm>
          <a:prstGeom prst="rect">
            <a:avLst/>
          </a:prstGeom>
          <a:solidFill>
            <a:srgbClr val="19324A"/>
          </a:solidFill>
          <a:ln w="12700">
            <a:solidFill>
              <a:srgbClr val="1932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87452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能力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1737360"/>
            <a:ext cx="2807208" cy="475488"/>
          </a:xfrm>
          <a:prstGeom prst="rect">
            <a:avLst/>
          </a:prstGeom>
          <a:solidFill>
            <a:srgbClr val="19324A"/>
          </a:solidFill>
          <a:ln w="12700">
            <a:solidFill>
              <a:srgbClr val="1932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27832" y="1874520"/>
            <a:ext cx="2660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命题目标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61888" y="1737360"/>
            <a:ext cx="2770632" cy="475488"/>
          </a:xfrm>
          <a:prstGeom prst="rect">
            <a:avLst/>
          </a:prstGeom>
          <a:solidFill>
            <a:srgbClr val="19324A"/>
          </a:solidFill>
          <a:ln w="12700">
            <a:solidFill>
              <a:srgbClr val="1932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874520"/>
            <a:ext cx="2624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验证方式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732520" y="1737360"/>
            <a:ext cx="2834640" cy="475488"/>
          </a:xfrm>
          <a:prstGeom prst="rect">
            <a:avLst/>
          </a:prstGeom>
          <a:solidFill>
            <a:srgbClr val="19324A"/>
          </a:solidFill>
          <a:ln w="12700">
            <a:solidFill>
              <a:srgbClr val="19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05672" y="1874520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当前状态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212848"/>
            <a:ext cx="2560320" cy="749808"/>
          </a:xfrm>
          <a:prstGeom prst="rect">
            <a:avLst/>
          </a:prstGeom>
          <a:solidFill>
            <a:srgbClr val="F9FBFC"/>
          </a:solidFill>
          <a:ln w="12700">
            <a:solidFill>
              <a:srgbClr val="E4E8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4086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82433"/>
                </a:solidFill>
              </a:rPr>
              <a:t>KR1 病历结构化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154680" y="2212848"/>
            <a:ext cx="2807208" cy="749808"/>
          </a:xfrm>
          <a:prstGeom prst="rect">
            <a:avLst/>
          </a:prstGeom>
          <a:solidFill>
            <a:srgbClr val="F9FBFC"/>
          </a:solidFill>
          <a:ln w="12700">
            <a:solidFill>
              <a:srgbClr val="E4E8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2340864"/>
            <a:ext cx="2624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82433"/>
                </a:solidFill>
              </a:rPr>
              <a:t>F1 ≥ 0.90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82433"/>
                </a:solidFill>
              </a:rPr>
              <a:t>缺失率 &lt; 5%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61888" y="2212848"/>
            <a:ext cx="2770632" cy="749808"/>
          </a:xfrm>
          <a:prstGeom prst="rect">
            <a:avLst/>
          </a:prstGeom>
          <a:solidFill>
            <a:srgbClr val="F9FBFC"/>
          </a:solidFill>
          <a:ln w="12700">
            <a:solidFill>
              <a:srgbClr val="E4E8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53328" y="2340864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82433"/>
                </a:solidFill>
              </a:rPr>
              <a:t>官方 Gold vs 真实 Prediction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32520" y="2212848"/>
            <a:ext cx="2834640" cy="749808"/>
          </a:xfrm>
          <a:prstGeom prst="rect">
            <a:avLst/>
          </a:prstGeom>
          <a:solidFill>
            <a:srgbClr val="F9FBFC"/>
          </a:solidFill>
          <a:ln w="12700">
            <a:solidFill>
              <a:srgbClr val="E4E8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23960" y="234086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8DEF"/>
                </a:solidFill>
              </a:rPr>
              <a:t>测评中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2962656"/>
            <a:ext cx="2560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0906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82433"/>
                </a:solidFill>
              </a:rPr>
              <a:t>KR2 多维痛点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154680" y="2962656"/>
            <a:ext cx="280720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3090672"/>
            <a:ext cx="2624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82433"/>
                </a:solidFill>
              </a:rPr>
              <a:t>三类覆盖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82433"/>
                </a:solidFill>
              </a:rPr>
              <a:t>一致率 ≥ 85%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61888" y="2962656"/>
            <a:ext cx="27706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53328" y="3090672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82433"/>
                </a:solidFill>
              </a:rPr>
              <a:t>专家 Gold 对照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32520" y="2962656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23960" y="309067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050" b="1" dirty="0">
                <a:solidFill>
                  <a:srgbClr val="5B8DEF"/>
                </a:solidFill>
              </a:rPr>
              <a:t>已实现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3712464"/>
            <a:ext cx="2560320" cy="749808"/>
          </a:xfrm>
          <a:prstGeom prst="rect">
            <a:avLst/>
          </a:prstGeom>
          <a:solidFill>
            <a:srgbClr val="F9FBFC"/>
          </a:solidFill>
          <a:ln w="12700">
            <a:solidFill>
              <a:srgbClr val="E4E8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8404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82433"/>
                </a:solidFill>
              </a:rPr>
              <a:t>KR3 温度指引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154680" y="3712464"/>
            <a:ext cx="2807208" cy="749808"/>
          </a:xfrm>
          <a:prstGeom prst="rect">
            <a:avLst/>
          </a:prstGeom>
          <a:solidFill>
            <a:srgbClr val="F9FBFC"/>
          </a:solidFill>
          <a:ln w="12700">
            <a:solidFill>
              <a:srgbClr val="E4E8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46120" y="3840480"/>
            <a:ext cx="2624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82433"/>
                </a:solidFill>
              </a:rPr>
              <a:t>≥ 3 病种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82433"/>
                </a:solidFill>
              </a:rPr>
              <a:t>盲评 ≥ 4/5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61888" y="3712464"/>
            <a:ext cx="2770632" cy="749808"/>
          </a:xfrm>
          <a:prstGeom prst="rect">
            <a:avLst/>
          </a:prstGeom>
          <a:solidFill>
            <a:srgbClr val="F9FBFC"/>
          </a:solidFill>
          <a:ln w="12700">
            <a:solidFill>
              <a:srgbClr val="E4E8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3840480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82433"/>
                </a:solidFill>
              </a:rPr>
              <a:t>多人独立盲评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732520" y="3712464"/>
            <a:ext cx="2834640" cy="749808"/>
          </a:xfrm>
          <a:prstGeom prst="rect">
            <a:avLst/>
          </a:prstGeom>
          <a:solidFill>
            <a:srgbClr val="F9FBFC"/>
          </a:solidFill>
          <a:ln w="12700">
            <a:solidFill>
              <a:srgbClr val="E4E8ED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6" name="Text 34"/>
          <p:cNvSpPr/>
          <p:nvPr/>
        </p:nvSpPr>
        <p:spPr>
          <a:xfrm>
            <a:off x="8823960" y="38404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altLang="zh-CN" sz="1050" b="1" dirty="0" err="1">
                <a:solidFill>
                  <a:srgbClr val="F0A44A"/>
                </a:solidFill>
              </a:rPr>
              <a:t>已实现</a:t>
            </a:r>
            <a:endParaRPr lang="en-US" altLang="zh-CN" sz="1050" b="1" dirty="0"/>
          </a:p>
        </p:txBody>
      </p:sp>
      <p:sp>
        <p:nvSpPr>
          <p:cNvPr id="37" name="Shape 35"/>
          <p:cNvSpPr/>
          <p:nvPr/>
        </p:nvSpPr>
        <p:spPr>
          <a:xfrm>
            <a:off x="594360" y="4462272"/>
            <a:ext cx="2560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5902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82433"/>
                </a:solidFill>
              </a:rPr>
              <a:t>KR4 品质与推荐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154680" y="4462272"/>
            <a:ext cx="2807208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46120" y="4590288"/>
            <a:ext cx="2624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82433"/>
                </a:solidFill>
              </a:rPr>
              <a:t>≥ 5 维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82433"/>
                </a:solidFill>
              </a:rPr>
              <a:t>≥ 2 理由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82433"/>
                </a:solidFill>
              </a:rPr>
              <a:t>3 病种 × 5 机构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961888" y="4462272"/>
            <a:ext cx="2770632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53328" y="4590288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82433"/>
                </a:solidFill>
              </a:rPr>
              <a:t>覆盖矩阵 + 理由审计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732520" y="4462272"/>
            <a:ext cx="28346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ED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4" name="Text 42"/>
          <p:cNvSpPr/>
          <p:nvPr/>
        </p:nvSpPr>
        <p:spPr>
          <a:xfrm>
            <a:off x="8823960" y="459028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F0A44A"/>
                </a:solidFill>
              </a:rPr>
              <a:t>已实现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94360" y="5212080"/>
            <a:ext cx="2560320" cy="749808"/>
          </a:xfrm>
          <a:prstGeom prst="rect">
            <a:avLst/>
          </a:prstGeom>
          <a:solidFill>
            <a:srgbClr val="F9FBFC"/>
          </a:solidFill>
          <a:ln w="12700">
            <a:solidFill>
              <a:srgbClr val="E4E8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534009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82433"/>
                </a:solidFill>
              </a:rPr>
              <a:t>KR5 完整链路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154680" y="5212080"/>
            <a:ext cx="2807208" cy="749808"/>
          </a:xfrm>
          <a:prstGeom prst="rect">
            <a:avLst/>
          </a:prstGeom>
          <a:solidFill>
            <a:srgbClr val="F9FBFC"/>
          </a:solidFill>
          <a:ln w="12700">
            <a:solidFill>
              <a:srgbClr val="E4E8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46120" y="5340096"/>
            <a:ext cx="2624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82433"/>
                </a:solidFill>
              </a:rPr>
              <a:t>理赔 → 触达 → 反馈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961888" y="5212080"/>
            <a:ext cx="2770632" cy="749808"/>
          </a:xfrm>
          <a:prstGeom prst="rect">
            <a:avLst/>
          </a:prstGeom>
          <a:solidFill>
            <a:srgbClr val="F9FBFC"/>
          </a:solidFill>
          <a:ln w="12700">
            <a:solidFill>
              <a:srgbClr val="E4E8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53328" y="5340096"/>
            <a:ext cx="25877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182433"/>
                </a:solidFill>
              </a:rPr>
              <a:t>端到端 Demo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732520" y="5212080"/>
            <a:ext cx="2834640" cy="749808"/>
          </a:xfrm>
          <a:prstGeom prst="rect">
            <a:avLst/>
          </a:prstGeom>
          <a:solidFill>
            <a:srgbClr val="F9FBFC"/>
          </a:solidFill>
          <a:ln w="12700">
            <a:solidFill>
              <a:srgbClr val="E4E8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23960" y="534009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A78"/>
                </a:solidFill>
              </a:rPr>
              <a:t>已跑通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22960" y="6080760"/>
            <a:ext cx="10561320" cy="438912"/>
          </a:xfrm>
          <a:prstGeom prst="roundRect">
            <a:avLst>
              <a:gd name="adj" fmla="val 33333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24128" y="6199632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9324A"/>
                </a:solidFill>
              </a:rPr>
              <a:t>下一步：真实 Gold 测评 → F1 / Pain Agreement / Care Blind Score → 有时间再补 Provider / Doctor / Treatment Profile</a:t>
            </a:r>
            <a:endParaRPr lang="en-US" sz="108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6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5AA39B"/>
                </a:solidFill>
              </a:rPr>
              <a:t>备份页 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82433"/>
                </a:solidFill>
              </a:rPr>
              <a:t>技术架构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09728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7B88"/>
                </a:solidFill>
              </a:rPr>
              <a:t>FastAPI 编排 + SQLite 持久化 + 本地 OCR + DeepSeek 语义能力 + 四角色工作区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192938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8DEF"/>
                </a:solidFill>
              </a:rPr>
              <a:t>Frontends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148840" y="1755648"/>
            <a:ext cx="2146554" cy="676656"/>
          </a:xfrm>
          <a:prstGeom prst="roundRect">
            <a:avLst>
              <a:gd name="adj" fmla="val 21622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03704" y="1993392"/>
            <a:ext cx="20368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8DEF"/>
                </a:solidFill>
              </a:rPr>
              <a:t>CLAIM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50842" y="1755648"/>
            <a:ext cx="2146554" cy="676656"/>
          </a:xfrm>
          <a:prstGeom prst="roundRect">
            <a:avLst>
              <a:gd name="adj" fmla="val 21622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5706" y="1993392"/>
            <a:ext cx="20368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8DEF"/>
                </a:solidFill>
              </a:rPr>
              <a:t>MEDICAL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752844" y="1755648"/>
            <a:ext cx="2146554" cy="676656"/>
          </a:xfrm>
          <a:prstGeom prst="roundRect">
            <a:avLst>
              <a:gd name="adj" fmla="val 21622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07708" y="1993392"/>
            <a:ext cx="20368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8DEF"/>
                </a:solidFill>
              </a:rPr>
              <a:t>CUSTOMER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054846" y="1755648"/>
            <a:ext cx="2146554" cy="676656"/>
          </a:xfrm>
          <a:prstGeom prst="roundRect">
            <a:avLst>
              <a:gd name="adj" fmla="val 21622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09710" y="1993392"/>
            <a:ext cx="20368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B8DEF"/>
                </a:solidFill>
              </a:rPr>
              <a:t>SERVICE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282549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324A"/>
                </a:solidFill>
              </a:rPr>
              <a:t>API / Workflow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48840" y="2651760"/>
            <a:ext cx="2146554" cy="676656"/>
          </a:xfrm>
          <a:prstGeom prst="roundRect">
            <a:avLst>
              <a:gd name="adj" fmla="val 2162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03704" y="2889504"/>
            <a:ext cx="20368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324A"/>
                </a:solidFill>
              </a:rPr>
              <a:t>FastAPI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50842" y="2651760"/>
            <a:ext cx="2146554" cy="676656"/>
          </a:xfrm>
          <a:prstGeom prst="roundRect">
            <a:avLst>
              <a:gd name="adj" fmla="val 2162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05706" y="2889504"/>
            <a:ext cx="20368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324A"/>
                </a:solidFill>
              </a:rPr>
              <a:t>RBAC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52844" y="2651760"/>
            <a:ext cx="2146554" cy="676656"/>
          </a:xfrm>
          <a:prstGeom prst="roundRect">
            <a:avLst>
              <a:gd name="adj" fmla="val 2162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07708" y="2889504"/>
            <a:ext cx="20368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324A"/>
                </a:solidFill>
              </a:rPr>
              <a:t>Case Participants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54846" y="2651760"/>
            <a:ext cx="2146554" cy="676656"/>
          </a:xfrm>
          <a:prstGeom prst="roundRect">
            <a:avLst>
              <a:gd name="adj" fmla="val 21622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09710" y="2889504"/>
            <a:ext cx="20368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9324A"/>
                </a:solidFill>
              </a:rPr>
              <a:t>Module Gate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" y="372160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A78"/>
                </a:solidFill>
              </a:rPr>
              <a:t>Domain Engines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48840" y="3547872"/>
            <a:ext cx="1379220" cy="969264"/>
          </a:xfrm>
          <a:prstGeom prst="roundRect">
            <a:avLst>
              <a:gd name="adj" fmla="val 15094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03704" y="3931920"/>
            <a:ext cx="12694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A78"/>
                </a:solidFill>
              </a:rPr>
              <a:t>Structuring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83508" y="3547872"/>
            <a:ext cx="1379220" cy="969264"/>
          </a:xfrm>
          <a:prstGeom prst="roundRect">
            <a:avLst>
              <a:gd name="adj" fmla="val 15094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38372" y="3931920"/>
            <a:ext cx="12694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A78"/>
                </a:solidFill>
              </a:rPr>
              <a:t>Evidence Grounding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218176" y="3547872"/>
            <a:ext cx="1379220" cy="969264"/>
          </a:xfrm>
          <a:prstGeom prst="roundRect">
            <a:avLst>
              <a:gd name="adj" fmla="val 15094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73040" y="3931920"/>
            <a:ext cx="12694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A78"/>
                </a:solidFill>
              </a:rPr>
              <a:t>Pain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752844" y="3547872"/>
            <a:ext cx="1379220" cy="969264"/>
          </a:xfrm>
          <a:prstGeom prst="roundRect">
            <a:avLst>
              <a:gd name="adj" fmla="val 15094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07708" y="3931920"/>
            <a:ext cx="12694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A78"/>
                </a:solidFill>
              </a:rPr>
              <a:t>Care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87512" y="3547872"/>
            <a:ext cx="1379220" cy="969264"/>
          </a:xfrm>
          <a:prstGeom prst="roundRect">
            <a:avLst>
              <a:gd name="adj" fmla="val 15094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42376" y="3931920"/>
            <a:ext cx="12694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A78"/>
                </a:solidFill>
              </a:rPr>
              <a:t>Quality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822180" y="3547872"/>
            <a:ext cx="1379220" cy="969264"/>
          </a:xfrm>
          <a:prstGeom prst="roundRect">
            <a:avLst>
              <a:gd name="adj" fmla="val 15094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77044" y="3931920"/>
            <a:ext cx="12694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A78"/>
                </a:solidFill>
              </a:rPr>
              <a:t>Recommendation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5800" y="491032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44A"/>
                </a:solidFill>
              </a:rPr>
              <a:t>Persistence / Safety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148840" y="4736592"/>
            <a:ext cx="2146554" cy="676656"/>
          </a:xfrm>
          <a:prstGeom prst="roundRect">
            <a:avLst>
              <a:gd name="adj" fmla="val 21622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03704" y="4974336"/>
            <a:ext cx="20368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A44A"/>
                </a:solidFill>
              </a:rPr>
              <a:t>SQLite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450842" y="4736592"/>
            <a:ext cx="2146554" cy="676656"/>
          </a:xfrm>
          <a:prstGeom prst="roundRect">
            <a:avLst>
              <a:gd name="adj" fmla="val 21622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05706" y="4974336"/>
            <a:ext cx="20368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A44A"/>
                </a:solidFill>
              </a:rPr>
              <a:t>Generation ID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752844" y="4736592"/>
            <a:ext cx="2146554" cy="676656"/>
          </a:xfrm>
          <a:prstGeom prst="roundRect">
            <a:avLst>
              <a:gd name="adj" fmla="val 21622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07708" y="4974336"/>
            <a:ext cx="20368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A44A"/>
                </a:solidFill>
              </a:rPr>
              <a:t>Fingerprint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054846" y="4736592"/>
            <a:ext cx="2146554" cy="676656"/>
          </a:xfrm>
          <a:prstGeom prst="roundRect">
            <a:avLst>
              <a:gd name="adj" fmla="val 21622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09710" y="4974336"/>
            <a:ext cx="203682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A44A"/>
                </a:solidFill>
              </a:rPr>
              <a:t>Published Snapshot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13232" y="5733288"/>
            <a:ext cx="10698480" cy="420624"/>
          </a:xfrm>
          <a:prstGeom prst="roundRect">
            <a:avLst>
              <a:gd name="adj" fmla="val 34783"/>
            </a:avLst>
          </a:prstGeom>
          <a:solidFill>
            <a:srgbClr val="19324A"/>
          </a:solidFill>
          <a:ln w="12700">
            <a:solidFill>
              <a:srgbClr val="1932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7552" y="585216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RapidOCR（原图本地）   ·   DeepSeek（脱敏文本 / 结构化上下文）   ·   External Search（公开机构信息，可选）</a:t>
            </a:r>
            <a:endParaRPr lang="en-US" sz="10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6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5AA39B"/>
                </a:solidFill>
              </a:rPr>
              <a:t>备份页 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82433"/>
                </a:solidFill>
              </a:rPr>
              <a:t>从「理赔成本中心」到「医疗服务入口」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21208" y="109728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E7B88"/>
                </a:solidFill>
              </a:rPr>
              <a:t>项目价值与合规边界同时成立，才具备真实落地可能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288036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984248"/>
            <a:ext cx="987552" cy="301752"/>
          </a:xfrm>
          <a:prstGeom prst="roundRect">
            <a:avLst>
              <a:gd name="adj" fmla="val 45455"/>
            </a:avLst>
          </a:prstGeom>
          <a:solidFill>
            <a:srgbClr val="EAF0FF"/>
          </a:solidFill>
          <a:ln w="12700">
            <a:solidFill>
              <a:srgbClr val="EA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04825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B8DEF"/>
                </a:solidFill>
              </a:rPr>
              <a:t>对用户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6968" y="259689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5AA39B"/>
                </a:solidFill>
              </a:rPr>
              <a:t>•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1088136" y="2596896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82433"/>
                </a:solidFill>
              </a:rPr>
              <a:t>看得懂诊断与费用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886968" y="303580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5AA39B"/>
                </a:solidFill>
              </a:rPr>
              <a:t>•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1088136" y="303580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82433"/>
                </a:solidFill>
              </a:rPr>
              <a:t>知道怎么康复、何时复诊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886968" y="347472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5AA39B"/>
                </a:solidFill>
              </a:rPr>
              <a:t>•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1088136" y="3474720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82433"/>
                </a:solidFill>
              </a:rPr>
              <a:t>反馈有人继续跟进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4069080" y="1783080"/>
            <a:ext cx="288036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70248" y="1984248"/>
            <a:ext cx="987552" cy="301752"/>
          </a:xfrm>
          <a:prstGeom prst="roundRect">
            <a:avLst>
              <a:gd name="adj" fmla="val 45455"/>
            </a:avLst>
          </a:prstGeom>
          <a:solidFill>
            <a:srgbClr val="EAF5F2"/>
          </a:solidFill>
          <a:ln w="12700">
            <a:solidFill>
              <a:srgbClr val="EAF5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25112" y="204825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A78"/>
                </a:solidFill>
              </a:rPr>
              <a:t>对保险公司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70248" y="259689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5AA39B"/>
                </a:solidFill>
              </a:rPr>
              <a:t>•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4471416" y="2596896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82433"/>
                </a:solidFill>
              </a:rPr>
              <a:t>降低人工阅读与摘录成本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4270248" y="303580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5AA39B"/>
                </a:solidFill>
              </a:rPr>
              <a:t>•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4471416" y="303580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82433"/>
                </a:solidFill>
              </a:rPr>
              <a:t>理赔转为持续服务触点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4270248" y="347472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5AA39B"/>
                </a:solidFill>
              </a:rPr>
              <a:t>•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4471416" y="3474720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82433"/>
                </a:solidFill>
              </a:rPr>
              <a:t>沉淀痛点与品质服务资产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7452360" y="1783080"/>
            <a:ext cx="2880360" cy="201168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53528" y="1984248"/>
            <a:ext cx="987552" cy="301752"/>
          </a:xfrm>
          <a:prstGeom prst="roundRect">
            <a:avLst>
              <a:gd name="adj" fmla="val 45455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08392" y="2048256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44A"/>
                </a:solidFill>
              </a:rPr>
              <a:t>对医疗 AI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53528" y="2596896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5AA39B"/>
                </a:solidFill>
              </a:rPr>
              <a:t>•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7854696" y="2596896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82433"/>
                </a:solidFill>
              </a:rPr>
              <a:t>可解释</a:t>
            </a:r>
            <a:endParaRPr lang="en-US" sz="1140" dirty="0"/>
          </a:p>
        </p:txBody>
      </p:sp>
      <p:sp>
        <p:nvSpPr>
          <p:cNvPr id="28" name="Text 26"/>
          <p:cNvSpPr/>
          <p:nvPr/>
        </p:nvSpPr>
        <p:spPr>
          <a:xfrm>
            <a:off x="7653528" y="3035808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5AA39B"/>
                </a:solidFill>
              </a:rPr>
              <a:t>•</a:t>
            </a:r>
            <a:endParaRPr lang="en-US" sz="1140" dirty="0"/>
          </a:p>
        </p:txBody>
      </p:sp>
      <p:sp>
        <p:nvSpPr>
          <p:cNvPr id="29" name="Text 27"/>
          <p:cNvSpPr/>
          <p:nvPr/>
        </p:nvSpPr>
        <p:spPr>
          <a:xfrm>
            <a:off x="7854696" y="303580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82433"/>
                </a:solidFill>
              </a:rPr>
              <a:t>可审核</a:t>
            </a:r>
            <a:endParaRPr lang="en-US" sz="1140" dirty="0"/>
          </a:p>
        </p:txBody>
      </p:sp>
      <p:sp>
        <p:nvSpPr>
          <p:cNvPr id="30" name="Text 28"/>
          <p:cNvSpPr/>
          <p:nvPr/>
        </p:nvSpPr>
        <p:spPr>
          <a:xfrm>
            <a:off x="7653528" y="3474720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5AA39B"/>
                </a:solidFill>
              </a:rPr>
              <a:t>•</a:t>
            </a:r>
            <a:endParaRPr lang="en-US" sz="1140" dirty="0"/>
          </a:p>
        </p:txBody>
      </p:sp>
      <p:sp>
        <p:nvSpPr>
          <p:cNvPr id="31" name="Text 29"/>
          <p:cNvSpPr/>
          <p:nvPr/>
        </p:nvSpPr>
        <p:spPr>
          <a:xfrm>
            <a:off x="7854696" y="3474720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182433"/>
                </a:solidFill>
              </a:rPr>
              <a:t>可追溯</a:t>
            </a:r>
            <a:endParaRPr lang="en-US" sz="1140" dirty="0"/>
          </a:p>
        </p:txBody>
      </p:sp>
      <p:sp>
        <p:nvSpPr>
          <p:cNvPr id="32" name="Text 30"/>
          <p:cNvSpPr/>
          <p:nvPr/>
        </p:nvSpPr>
        <p:spPr>
          <a:xfrm>
            <a:off x="731520" y="425196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2433"/>
                </a:solidFill>
              </a:rPr>
              <a:t>合规与安全边界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31520" y="4754880"/>
            <a:ext cx="2606040" cy="987552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493776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8DEF"/>
                </a:solidFill>
              </a:rPr>
              <a:t>用户授权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664208" y="490118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E7B88"/>
                </a:solidFill>
              </a:rPr>
              <a:t>目的限定 / 可撤销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3474720" y="4754880"/>
            <a:ext cx="2606040" cy="987552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39312" y="493776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A78"/>
                </a:solidFill>
              </a:rPr>
              <a:t>最小必要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407408" y="490118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E7B88"/>
                </a:solidFill>
              </a:rPr>
              <a:t>原图本地 OCR；外部模型只收必要脱敏文本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6217920" y="4754880"/>
            <a:ext cx="2606040" cy="987552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82512" y="493776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44A"/>
                </a:solidFill>
              </a:rPr>
              <a:t>权限隔离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150608" y="490118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E7B88"/>
                </a:solidFill>
              </a:rPr>
              <a:t>RBAC + 案件参与关系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8961120" y="4754880"/>
            <a:ext cx="2606040" cy="987552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25712" y="493776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85C5C"/>
                </a:solidFill>
              </a:rPr>
              <a:t>审计追溯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893808" y="490118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E7B88"/>
                </a:solidFill>
              </a:rPr>
              <a:t>Evidence + Review Overlay + Published Snapshot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2240280" y="5989320"/>
            <a:ext cx="7680960" cy="475488"/>
          </a:xfrm>
          <a:prstGeom prst="roundRect">
            <a:avLst>
              <a:gd name="adj" fmla="val 30769"/>
            </a:avLst>
          </a:prstGeom>
          <a:solidFill>
            <a:srgbClr val="19324A"/>
          </a:solidFill>
          <a:ln w="12700">
            <a:solidFill>
              <a:srgbClr val="1932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14600" y="6126480"/>
            <a:ext cx="7132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合规不是附录，而是系统主链路的一部分。</a:t>
            </a:r>
            <a:endParaRPr lang="en-US" sz="12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6A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838</Words>
  <Application>Microsoft Office PowerPoint</Application>
  <PresentationFormat>宽屏</PresentationFormat>
  <Paragraphs>272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医疗理赔医护关怀系统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医护洞察：基于理赔医护记录的医护洞察与温度指引引擎</dc:title>
  <dc:subject>医护洞察比赛汇报</dc:subject>
  <dc:creator>OpenAI</dc:creator>
  <cp:lastModifiedBy>筱雨 俞</cp:lastModifiedBy>
  <cp:revision>3</cp:revision>
  <dcterms:created xsi:type="dcterms:W3CDTF">2026-10-14T09:24:41Z</dcterms:created>
  <dcterms:modified xsi:type="dcterms:W3CDTF">2026-10-14T09:47:16Z</dcterms:modified>
</cp:coreProperties>
</file>